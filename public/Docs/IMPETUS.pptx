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610" y="3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508184" y="835796"/>
            <a:ext cx="11533505" cy="1811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350" b="1" i="0">
                <a:solidFill>
                  <a:srgbClr val="A0C8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>
                <a:solidFill>
                  <a:srgbClr val="FAFAFB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C3AE53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0" dirty="0"/>
              <a:t>HUMANITY</a:t>
            </a:r>
            <a:r>
              <a:rPr spc="-185" dirty="0"/>
              <a:t> </a:t>
            </a:r>
            <a:r>
              <a:rPr spc="-215" dirty="0"/>
              <a:t>FIRST</a:t>
            </a:r>
            <a:r>
              <a:rPr spc="-185" dirty="0"/>
              <a:t> </a:t>
            </a:r>
            <a:r>
              <a:rPr spc="-10" dirty="0"/>
              <a:t>:</a:t>
            </a:r>
            <a:r>
              <a:rPr spc="-180" dirty="0"/>
              <a:t> </a:t>
            </a:r>
            <a:r>
              <a:rPr spc="-225" dirty="0"/>
              <a:t>STEERING</a:t>
            </a:r>
            <a:r>
              <a:rPr spc="-185" dirty="0"/>
              <a:t> </a:t>
            </a:r>
            <a:r>
              <a:rPr spc="-285" dirty="0"/>
              <a:t>INNOVATION</a:t>
            </a:r>
            <a:r>
              <a:rPr spc="-180" dirty="0"/>
              <a:t> </a:t>
            </a:r>
            <a:r>
              <a:rPr spc="-235" dirty="0"/>
              <a:t>FOR</a:t>
            </a:r>
            <a:r>
              <a:rPr spc="-185" dirty="0"/>
              <a:t> </a:t>
            </a:r>
            <a:r>
              <a:rPr spc="-180" dirty="0"/>
              <a:t>ETHICAL </a:t>
            </a:r>
            <a:r>
              <a:rPr spc="-145" dirty="0"/>
              <a:t>IMPACT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50" b="1" i="0">
                <a:solidFill>
                  <a:srgbClr val="A0C8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rgbClr val="FAFAFB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C3AE53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0" dirty="0"/>
              <a:t>HUMANITY</a:t>
            </a:r>
            <a:r>
              <a:rPr spc="-185" dirty="0"/>
              <a:t> </a:t>
            </a:r>
            <a:r>
              <a:rPr spc="-215" dirty="0"/>
              <a:t>FIRST</a:t>
            </a:r>
            <a:r>
              <a:rPr spc="-185" dirty="0"/>
              <a:t> </a:t>
            </a:r>
            <a:r>
              <a:rPr spc="-10" dirty="0"/>
              <a:t>:</a:t>
            </a:r>
            <a:r>
              <a:rPr spc="-180" dirty="0"/>
              <a:t> </a:t>
            </a:r>
            <a:r>
              <a:rPr spc="-225" dirty="0"/>
              <a:t>STEERING</a:t>
            </a:r>
            <a:r>
              <a:rPr spc="-185" dirty="0"/>
              <a:t> </a:t>
            </a:r>
            <a:r>
              <a:rPr spc="-285" dirty="0"/>
              <a:t>INNOVATION</a:t>
            </a:r>
            <a:r>
              <a:rPr spc="-180" dirty="0"/>
              <a:t> </a:t>
            </a:r>
            <a:r>
              <a:rPr spc="-235" dirty="0"/>
              <a:t>FOR</a:t>
            </a:r>
            <a:r>
              <a:rPr spc="-185" dirty="0"/>
              <a:t> </a:t>
            </a:r>
            <a:r>
              <a:rPr spc="-180" dirty="0"/>
              <a:t>ETHICAL </a:t>
            </a:r>
            <a:r>
              <a:rPr spc="-145" dirty="0"/>
              <a:t>IMPACT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50" b="1" i="0">
                <a:solidFill>
                  <a:srgbClr val="A0C8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C3AE53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0" dirty="0"/>
              <a:t>HUMANITY</a:t>
            </a:r>
            <a:r>
              <a:rPr spc="-185" dirty="0"/>
              <a:t> </a:t>
            </a:r>
            <a:r>
              <a:rPr spc="-215" dirty="0"/>
              <a:t>FIRST</a:t>
            </a:r>
            <a:r>
              <a:rPr spc="-185" dirty="0"/>
              <a:t> </a:t>
            </a:r>
            <a:r>
              <a:rPr spc="-10" dirty="0"/>
              <a:t>:</a:t>
            </a:r>
            <a:r>
              <a:rPr spc="-180" dirty="0"/>
              <a:t> </a:t>
            </a:r>
            <a:r>
              <a:rPr spc="-225" dirty="0"/>
              <a:t>STEERING</a:t>
            </a:r>
            <a:r>
              <a:rPr spc="-185" dirty="0"/>
              <a:t> </a:t>
            </a:r>
            <a:r>
              <a:rPr spc="-285" dirty="0"/>
              <a:t>INNOVATION</a:t>
            </a:r>
            <a:r>
              <a:rPr spc="-180" dirty="0"/>
              <a:t> </a:t>
            </a:r>
            <a:r>
              <a:rPr spc="-235" dirty="0"/>
              <a:t>FOR</a:t>
            </a:r>
            <a:r>
              <a:rPr spc="-185" dirty="0"/>
              <a:t> </a:t>
            </a:r>
            <a:r>
              <a:rPr spc="-180" dirty="0"/>
              <a:t>ETHICAL </a:t>
            </a:r>
            <a:r>
              <a:rPr spc="-145" dirty="0"/>
              <a:t>IMPACT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50" b="1" i="0">
                <a:solidFill>
                  <a:srgbClr val="A0C8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C3AE53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0" dirty="0"/>
              <a:t>HUMANITY</a:t>
            </a:r>
            <a:r>
              <a:rPr spc="-185" dirty="0"/>
              <a:t> </a:t>
            </a:r>
            <a:r>
              <a:rPr spc="-215" dirty="0"/>
              <a:t>FIRST</a:t>
            </a:r>
            <a:r>
              <a:rPr spc="-185" dirty="0"/>
              <a:t> </a:t>
            </a:r>
            <a:r>
              <a:rPr spc="-10" dirty="0"/>
              <a:t>:</a:t>
            </a:r>
            <a:r>
              <a:rPr spc="-180" dirty="0"/>
              <a:t> </a:t>
            </a:r>
            <a:r>
              <a:rPr spc="-225" dirty="0"/>
              <a:t>STEERING</a:t>
            </a:r>
            <a:r>
              <a:rPr spc="-185" dirty="0"/>
              <a:t> </a:t>
            </a:r>
            <a:r>
              <a:rPr spc="-285" dirty="0"/>
              <a:t>INNOVATION</a:t>
            </a:r>
            <a:r>
              <a:rPr spc="-180" dirty="0"/>
              <a:t> </a:t>
            </a:r>
            <a:r>
              <a:rPr spc="-235" dirty="0"/>
              <a:t>FOR</a:t>
            </a:r>
            <a:r>
              <a:rPr spc="-185" dirty="0"/>
              <a:t> </a:t>
            </a:r>
            <a:r>
              <a:rPr spc="-180" dirty="0"/>
              <a:t>ETHICAL </a:t>
            </a:r>
            <a:r>
              <a:rPr spc="-145" dirty="0"/>
              <a:t>IMPACT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C3AE53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0" dirty="0"/>
              <a:t>HUMANITY</a:t>
            </a:r>
            <a:r>
              <a:rPr spc="-185" dirty="0"/>
              <a:t> </a:t>
            </a:r>
            <a:r>
              <a:rPr spc="-215" dirty="0"/>
              <a:t>FIRST</a:t>
            </a:r>
            <a:r>
              <a:rPr spc="-185" dirty="0"/>
              <a:t> </a:t>
            </a:r>
            <a:r>
              <a:rPr spc="-10" dirty="0"/>
              <a:t>:</a:t>
            </a:r>
            <a:r>
              <a:rPr spc="-180" dirty="0"/>
              <a:t> </a:t>
            </a:r>
            <a:r>
              <a:rPr spc="-225" dirty="0"/>
              <a:t>STEERING</a:t>
            </a:r>
            <a:r>
              <a:rPr spc="-185" dirty="0"/>
              <a:t> </a:t>
            </a:r>
            <a:r>
              <a:rPr spc="-285" dirty="0"/>
              <a:t>INNOVATION</a:t>
            </a:r>
            <a:r>
              <a:rPr spc="-180" dirty="0"/>
              <a:t> </a:t>
            </a:r>
            <a:r>
              <a:rPr spc="-235" dirty="0"/>
              <a:t>FOR</a:t>
            </a:r>
            <a:r>
              <a:rPr spc="-185" dirty="0"/>
              <a:t> </a:t>
            </a:r>
            <a:r>
              <a:rPr spc="-180" dirty="0"/>
              <a:t>ETHICAL </a:t>
            </a:r>
            <a:r>
              <a:rPr spc="-145" dirty="0"/>
              <a:t>IMPACT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18288000" cy="9683115"/>
          </a:xfrm>
          <a:custGeom>
            <a:avLst/>
            <a:gdLst/>
            <a:ahLst/>
            <a:cxnLst/>
            <a:rect l="l" t="t" r="r" b="b"/>
            <a:pathLst>
              <a:path w="18288000" h="9683115">
                <a:moveTo>
                  <a:pt x="0" y="9683003"/>
                </a:moveTo>
                <a:lnTo>
                  <a:pt x="18288001" y="9683003"/>
                </a:lnTo>
                <a:lnTo>
                  <a:pt x="18288001" y="0"/>
                </a:lnTo>
                <a:lnTo>
                  <a:pt x="0" y="0"/>
                </a:lnTo>
                <a:lnTo>
                  <a:pt x="0" y="9683003"/>
                </a:lnTo>
                <a:close/>
              </a:path>
            </a:pathLst>
          </a:custGeom>
          <a:solidFill>
            <a:srgbClr val="00000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28700" y="842264"/>
            <a:ext cx="3228974" cy="11525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08184" y="921521"/>
            <a:ext cx="9918065" cy="1035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350" b="1" i="0">
                <a:solidFill>
                  <a:srgbClr val="A0C8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71600" y="2522200"/>
            <a:ext cx="8448040" cy="6026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>
                <a:solidFill>
                  <a:srgbClr val="FAFAFB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826624" y="9785039"/>
            <a:ext cx="8315325" cy="375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C3AE53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0" dirty="0"/>
              <a:t>HUMANITY</a:t>
            </a:r>
            <a:r>
              <a:rPr spc="-185" dirty="0"/>
              <a:t> </a:t>
            </a:r>
            <a:r>
              <a:rPr spc="-215" dirty="0"/>
              <a:t>FIRST</a:t>
            </a:r>
            <a:r>
              <a:rPr spc="-185" dirty="0"/>
              <a:t> </a:t>
            </a:r>
            <a:r>
              <a:rPr spc="-10" dirty="0"/>
              <a:t>:</a:t>
            </a:r>
            <a:r>
              <a:rPr spc="-180" dirty="0"/>
              <a:t> </a:t>
            </a:r>
            <a:r>
              <a:rPr spc="-225" dirty="0"/>
              <a:t>STEERING</a:t>
            </a:r>
            <a:r>
              <a:rPr spc="-185" dirty="0"/>
              <a:t> </a:t>
            </a:r>
            <a:r>
              <a:rPr spc="-285" dirty="0"/>
              <a:t>INNOVATION</a:t>
            </a:r>
            <a:r>
              <a:rPr spc="-180" dirty="0"/>
              <a:t> </a:t>
            </a:r>
            <a:r>
              <a:rPr spc="-235" dirty="0"/>
              <a:t>FOR</a:t>
            </a:r>
            <a:r>
              <a:rPr spc="-185" dirty="0"/>
              <a:t> </a:t>
            </a:r>
            <a:r>
              <a:rPr spc="-180" dirty="0"/>
              <a:t>ETHICAL </a:t>
            </a:r>
            <a:r>
              <a:rPr spc="-145" dirty="0"/>
              <a:t>IMPACT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9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1028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122617"/>
            <a:ext cx="18288000" cy="10164445"/>
            <a:chOff x="0" y="122617"/>
            <a:chExt cx="18288000" cy="101644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32534"/>
              <a:ext cx="18287999" cy="905446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8562" y="122617"/>
              <a:ext cx="3228974" cy="110827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2006332"/>
              <a:ext cx="18288000" cy="8281034"/>
            </a:xfrm>
            <a:custGeom>
              <a:avLst/>
              <a:gdLst/>
              <a:ahLst/>
              <a:cxnLst/>
              <a:rect l="l" t="t" r="r" b="b"/>
              <a:pathLst>
                <a:path w="18288000" h="8281034">
                  <a:moveTo>
                    <a:pt x="17257319" y="0"/>
                  </a:moveTo>
                  <a:lnTo>
                    <a:pt x="1028687" y="0"/>
                  </a:lnTo>
                  <a:lnTo>
                    <a:pt x="1028687" y="2465603"/>
                  </a:lnTo>
                  <a:lnTo>
                    <a:pt x="17257319" y="2465603"/>
                  </a:lnTo>
                  <a:lnTo>
                    <a:pt x="17257319" y="0"/>
                  </a:lnTo>
                  <a:close/>
                </a:path>
                <a:path w="18288000" h="8281034">
                  <a:moveTo>
                    <a:pt x="18287416" y="7676680"/>
                  </a:moveTo>
                  <a:lnTo>
                    <a:pt x="0" y="7676680"/>
                  </a:lnTo>
                  <a:lnTo>
                    <a:pt x="0" y="8280679"/>
                  </a:lnTo>
                  <a:lnTo>
                    <a:pt x="18287416" y="8280679"/>
                  </a:lnTo>
                  <a:lnTo>
                    <a:pt x="18287416" y="7676680"/>
                  </a:lnTo>
                  <a:close/>
                </a:path>
              </a:pathLst>
            </a:custGeom>
            <a:solidFill>
              <a:srgbClr val="2632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/>
          <p:nvPr/>
        </p:nvSpPr>
        <p:spPr>
          <a:xfrm>
            <a:off x="5257800" y="2006332"/>
            <a:ext cx="10134600" cy="2507737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lvl="1">
              <a:spcBef>
                <a:spcPts val="114"/>
              </a:spcBef>
            </a:pPr>
            <a:r>
              <a:rPr sz="16200" spc="-2420" dirty="0" smtClean="0">
                <a:solidFill>
                  <a:srgbClr val="A0C8FF"/>
                </a:solidFill>
                <a:latin typeface="Arial Black"/>
                <a:cs typeface="Arial Black"/>
              </a:rPr>
              <a:t>T</a:t>
            </a:r>
            <a:r>
              <a:rPr lang="en-US" sz="16200" spc="-2420" dirty="0" smtClean="0">
                <a:solidFill>
                  <a:srgbClr val="A0C8FF"/>
                </a:solidFill>
                <a:latin typeface="Arial Black"/>
                <a:cs typeface="Arial Black"/>
              </a:rPr>
              <a:t> </a:t>
            </a:r>
            <a:r>
              <a:rPr sz="16200" spc="-2420" dirty="0" smtClean="0">
                <a:solidFill>
                  <a:srgbClr val="A0C8FF"/>
                </a:solidFill>
                <a:latin typeface="Arial Black"/>
                <a:cs typeface="Arial Black"/>
              </a:rPr>
              <a:t>I</a:t>
            </a:r>
            <a:r>
              <a:rPr lang="en-US" sz="16200" spc="-2420" dirty="0" smtClean="0">
                <a:solidFill>
                  <a:srgbClr val="A0C8FF"/>
                </a:solidFill>
                <a:latin typeface="Arial Black"/>
                <a:cs typeface="Arial Black"/>
              </a:rPr>
              <a:t> </a:t>
            </a:r>
            <a:r>
              <a:rPr sz="16200" spc="-2420" dirty="0" smtClean="0">
                <a:solidFill>
                  <a:srgbClr val="A0C8FF"/>
                </a:solidFill>
                <a:latin typeface="Arial Black"/>
                <a:cs typeface="Arial Black"/>
              </a:rPr>
              <a:t>T</a:t>
            </a:r>
            <a:r>
              <a:rPr lang="en-US" sz="16200" spc="-2420" dirty="0" smtClean="0">
                <a:solidFill>
                  <a:srgbClr val="A0C8FF"/>
                </a:solidFill>
                <a:latin typeface="Arial Black"/>
                <a:cs typeface="Arial Black"/>
              </a:rPr>
              <a:t> </a:t>
            </a:r>
            <a:r>
              <a:rPr sz="16200" spc="-2420" dirty="0" err="1" smtClean="0">
                <a:solidFill>
                  <a:srgbClr val="A0C8FF"/>
                </a:solidFill>
                <a:latin typeface="Arial Black"/>
                <a:cs typeface="Arial Black"/>
              </a:rPr>
              <a:t>T</a:t>
            </a:r>
            <a:r>
              <a:rPr lang="en-US" sz="16200" spc="-2420" dirty="0" smtClean="0">
                <a:solidFill>
                  <a:srgbClr val="A0C8FF"/>
                </a:solidFill>
                <a:latin typeface="Arial Black"/>
                <a:cs typeface="Arial Black"/>
              </a:rPr>
              <a:t> </a:t>
            </a:r>
            <a:r>
              <a:rPr sz="16200" spc="-2420" dirty="0" smtClean="0">
                <a:solidFill>
                  <a:srgbClr val="A0C8FF"/>
                </a:solidFill>
                <a:latin typeface="Arial Black"/>
                <a:cs typeface="Arial Black"/>
              </a:rPr>
              <a:t>L</a:t>
            </a:r>
            <a:r>
              <a:rPr lang="en-US" sz="16200" spc="-2420" dirty="0" smtClean="0">
                <a:solidFill>
                  <a:srgbClr val="A0C8FF"/>
                </a:solidFill>
                <a:latin typeface="Arial Black"/>
                <a:cs typeface="Arial Black"/>
              </a:rPr>
              <a:t> </a:t>
            </a:r>
            <a:r>
              <a:rPr sz="16200" spc="-2420" dirty="0" smtClean="0">
                <a:solidFill>
                  <a:srgbClr val="A0C8FF"/>
                </a:solidFill>
                <a:latin typeface="Arial Black"/>
                <a:cs typeface="Arial Black"/>
              </a:rPr>
              <a:t>E</a:t>
            </a:r>
            <a:endParaRPr sz="16200" dirty="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0" dirty="0"/>
              <a:t>HUMANITY</a:t>
            </a:r>
            <a:r>
              <a:rPr spc="-185" dirty="0"/>
              <a:t> </a:t>
            </a:r>
            <a:r>
              <a:rPr spc="-215" dirty="0"/>
              <a:t>FIRST</a:t>
            </a:r>
            <a:r>
              <a:rPr spc="-185" dirty="0"/>
              <a:t> </a:t>
            </a:r>
            <a:r>
              <a:rPr spc="-10" dirty="0"/>
              <a:t>:</a:t>
            </a:r>
            <a:r>
              <a:rPr spc="-180" dirty="0"/>
              <a:t> </a:t>
            </a:r>
            <a:r>
              <a:rPr spc="-225" dirty="0"/>
              <a:t>STEERING</a:t>
            </a:r>
            <a:r>
              <a:rPr spc="-185" dirty="0"/>
              <a:t> </a:t>
            </a:r>
            <a:r>
              <a:rPr spc="-285" dirty="0"/>
              <a:t>INNOVATION</a:t>
            </a:r>
            <a:r>
              <a:rPr spc="-180" dirty="0"/>
              <a:t> </a:t>
            </a:r>
            <a:r>
              <a:rPr spc="-235" dirty="0"/>
              <a:t>FOR</a:t>
            </a:r>
            <a:r>
              <a:rPr spc="-185" dirty="0"/>
              <a:t> </a:t>
            </a:r>
            <a:r>
              <a:rPr spc="-180" dirty="0"/>
              <a:t>ETHICAL </a:t>
            </a:r>
            <a:r>
              <a:rPr spc="-145" dirty="0"/>
              <a:t>IMPACT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399895" y="4587938"/>
            <a:ext cx="547306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b="1" spc="-225" dirty="0">
                <a:solidFill>
                  <a:srgbClr val="FAFAFB"/>
                </a:solidFill>
                <a:latin typeface="Tahoma"/>
                <a:cs typeface="Tahoma"/>
              </a:rPr>
              <a:t>Author</a:t>
            </a:r>
            <a:r>
              <a:rPr sz="3500" b="1" spc="-305" dirty="0">
                <a:solidFill>
                  <a:srgbClr val="FAFAFB"/>
                </a:solidFill>
                <a:latin typeface="Tahoma"/>
                <a:cs typeface="Tahoma"/>
              </a:rPr>
              <a:t> name </a:t>
            </a:r>
            <a:r>
              <a:rPr sz="3500" b="1" spc="-290" dirty="0">
                <a:solidFill>
                  <a:srgbClr val="FAFAFB"/>
                </a:solidFill>
                <a:latin typeface="Tahoma"/>
                <a:cs typeface="Tahoma"/>
              </a:rPr>
              <a:t>and</a:t>
            </a:r>
            <a:r>
              <a:rPr sz="3500" b="1" spc="-305" dirty="0">
                <a:solidFill>
                  <a:srgbClr val="FAFAFB"/>
                </a:solidFill>
                <a:latin typeface="Tahoma"/>
                <a:cs typeface="Tahoma"/>
              </a:rPr>
              <a:t> </a:t>
            </a:r>
            <a:r>
              <a:rPr sz="3500" b="1" spc="-125" dirty="0">
                <a:solidFill>
                  <a:srgbClr val="FAFAFB"/>
                </a:solidFill>
                <a:latin typeface="Tahoma"/>
                <a:cs typeface="Tahoma"/>
              </a:rPr>
              <a:t>Affiliation</a:t>
            </a:r>
            <a:endParaRPr sz="3500" dirty="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16676" y="365791"/>
            <a:ext cx="1237361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75" dirty="0">
                <a:solidFill>
                  <a:srgbClr val="FAFAFB"/>
                </a:solidFill>
                <a:latin typeface="Arial Black"/>
                <a:cs typeface="Arial Black"/>
              </a:rPr>
              <a:t>International</a:t>
            </a:r>
            <a:r>
              <a:rPr sz="2700" spc="-265" dirty="0">
                <a:solidFill>
                  <a:srgbClr val="FAFAFB"/>
                </a:solidFill>
                <a:latin typeface="Arial Black"/>
                <a:cs typeface="Arial Black"/>
              </a:rPr>
              <a:t> </a:t>
            </a:r>
            <a:r>
              <a:rPr sz="2700" spc="-95" dirty="0">
                <a:solidFill>
                  <a:srgbClr val="FAFAFB"/>
                </a:solidFill>
                <a:latin typeface="Arial Black"/>
                <a:cs typeface="Arial Black"/>
              </a:rPr>
              <a:t>Conference</a:t>
            </a:r>
            <a:r>
              <a:rPr sz="2700" spc="-260" dirty="0">
                <a:solidFill>
                  <a:srgbClr val="FAFAFB"/>
                </a:solidFill>
                <a:latin typeface="Arial Black"/>
                <a:cs typeface="Arial Black"/>
              </a:rPr>
              <a:t> </a:t>
            </a:r>
            <a:r>
              <a:rPr sz="2700" spc="-45" dirty="0">
                <a:solidFill>
                  <a:srgbClr val="FAFAFB"/>
                </a:solidFill>
                <a:latin typeface="Arial Black"/>
                <a:cs typeface="Arial Black"/>
              </a:rPr>
              <a:t>on</a:t>
            </a:r>
            <a:r>
              <a:rPr sz="2700" spc="-260" dirty="0">
                <a:solidFill>
                  <a:srgbClr val="FAFAFB"/>
                </a:solidFill>
                <a:latin typeface="Arial Black"/>
                <a:cs typeface="Arial Black"/>
              </a:rPr>
              <a:t> </a:t>
            </a:r>
            <a:r>
              <a:rPr sz="2700" spc="-35" dirty="0">
                <a:solidFill>
                  <a:srgbClr val="FAFAFB"/>
                </a:solidFill>
                <a:latin typeface="Arial Black"/>
                <a:cs typeface="Arial Black"/>
              </a:rPr>
              <a:t>Computing,</a:t>
            </a:r>
            <a:r>
              <a:rPr sz="2700" spc="-260" dirty="0">
                <a:solidFill>
                  <a:srgbClr val="FAFAFB"/>
                </a:solidFill>
                <a:latin typeface="Arial Black"/>
                <a:cs typeface="Arial Black"/>
              </a:rPr>
              <a:t> </a:t>
            </a:r>
            <a:r>
              <a:rPr sz="2700" spc="-100" dirty="0">
                <a:solidFill>
                  <a:srgbClr val="FAFAFB"/>
                </a:solidFill>
                <a:latin typeface="Arial Black"/>
                <a:cs typeface="Arial Black"/>
              </a:rPr>
              <a:t>Engineering,</a:t>
            </a:r>
            <a:r>
              <a:rPr sz="2700" spc="-260" dirty="0">
                <a:solidFill>
                  <a:srgbClr val="FAFAFB"/>
                </a:solidFill>
                <a:latin typeface="Arial Black"/>
                <a:cs typeface="Arial Black"/>
              </a:rPr>
              <a:t> </a:t>
            </a:r>
            <a:r>
              <a:rPr sz="2700" dirty="0">
                <a:solidFill>
                  <a:srgbClr val="FAFAFB"/>
                </a:solidFill>
                <a:latin typeface="Arial Black"/>
                <a:cs typeface="Arial Black"/>
              </a:rPr>
              <a:t>and</a:t>
            </a:r>
            <a:r>
              <a:rPr sz="2700" spc="-260" dirty="0">
                <a:solidFill>
                  <a:srgbClr val="FAFAFB"/>
                </a:solidFill>
                <a:latin typeface="Arial Black"/>
                <a:cs typeface="Arial Black"/>
              </a:rPr>
              <a:t> </a:t>
            </a:r>
            <a:r>
              <a:rPr sz="2700" spc="-40" dirty="0">
                <a:solidFill>
                  <a:srgbClr val="FAFAFB"/>
                </a:solidFill>
                <a:latin typeface="Arial Black"/>
                <a:cs typeface="Arial Black"/>
              </a:rPr>
              <a:t>Technology</a:t>
            </a:r>
            <a:endParaRPr sz="270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9692640"/>
          </a:xfrm>
          <a:custGeom>
            <a:avLst/>
            <a:gdLst/>
            <a:ahLst/>
            <a:cxnLst/>
            <a:rect l="l" t="t" r="r" b="b"/>
            <a:pathLst>
              <a:path w="18288000" h="9692640">
                <a:moveTo>
                  <a:pt x="0" y="9692528"/>
                </a:moveTo>
                <a:lnTo>
                  <a:pt x="18288001" y="9692528"/>
                </a:lnTo>
                <a:lnTo>
                  <a:pt x="18288001" y="0"/>
                </a:lnTo>
                <a:lnTo>
                  <a:pt x="0" y="0"/>
                </a:lnTo>
                <a:lnTo>
                  <a:pt x="0" y="9692528"/>
                </a:lnTo>
                <a:close/>
              </a:path>
            </a:pathLst>
          </a:custGeom>
          <a:solidFill>
            <a:srgbClr val="00000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6528" y="320773"/>
            <a:ext cx="3228974" cy="9660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7799" y="2912738"/>
            <a:ext cx="133350" cy="1333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7799" y="3579488"/>
            <a:ext cx="133350" cy="1333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47799" y="4246238"/>
            <a:ext cx="133350" cy="1333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47799" y="4912988"/>
            <a:ext cx="133350" cy="1333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7799" y="5579738"/>
            <a:ext cx="133350" cy="1333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47799" y="6246488"/>
            <a:ext cx="133350" cy="1333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47799" y="6913237"/>
            <a:ext cx="133350" cy="1333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47799" y="7579987"/>
            <a:ext cx="133350" cy="13334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47799" y="8246737"/>
            <a:ext cx="133350" cy="133349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spc="-10" dirty="0"/>
              <a:t>Introduction</a:t>
            </a:r>
          </a:p>
          <a:p>
            <a:pPr marL="12700" marR="1684020">
              <a:lnSpc>
                <a:spcPct val="125000"/>
              </a:lnSpc>
            </a:pPr>
            <a:r>
              <a:rPr dirty="0"/>
              <a:t>Literature</a:t>
            </a:r>
            <a:r>
              <a:rPr spc="-90" dirty="0"/>
              <a:t> </a:t>
            </a:r>
            <a:r>
              <a:rPr dirty="0"/>
              <a:t>Review</a:t>
            </a:r>
            <a:r>
              <a:rPr spc="-90" dirty="0"/>
              <a:t> </a:t>
            </a:r>
            <a:r>
              <a:rPr dirty="0"/>
              <a:t>(If</a:t>
            </a:r>
            <a:r>
              <a:rPr spc="-90" dirty="0"/>
              <a:t> </a:t>
            </a:r>
            <a:r>
              <a:rPr spc="-10" dirty="0"/>
              <a:t>any/Optional) </a:t>
            </a:r>
            <a:r>
              <a:rPr dirty="0"/>
              <a:t>Research</a:t>
            </a:r>
            <a:r>
              <a:rPr spc="-120" dirty="0"/>
              <a:t> </a:t>
            </a:r>
            <a:r>
              <a:rPr spc="-10" dirty="0"/>
              <a:t>objectives</a:t>
            </a:r>
          </a:p>
          <a:p>
            <a:pPr marL="12700" marR="5080">
              <a:lnSpc>
                <a:spcPct val="125000"/>
              </a:lnSpc>
            </a:pPr>
            <a:r>
              <a:rPr dirty="0"/>
              <a:t>Conceptual</a:t>
            </a:r>
            <a:r>
              <a:rPr spc="-90" dirty="0"/>
              <a:t> </a:t>
            </a:r>
            <a:r>
              <a:rPr spc="-10" dirty="0"/>
              <a:t>Framework/Hypothesis</a:t>
            </a:r>
            <a:r>
              <a:rPr spc="-90" dirty="0"/>
              <a:t> </a:t>
            </a:r>
            <a:r>
              <a:rPr dirty="0"/>
              <a:t>(If</a:t>
            </a:r>
            <a:r>
              <a:rPr spc="-90" dirty="0"/>
              <a:t> </a:t>
            </a:r>
            <a:r>
              <a:rPr spc="-20" dirty="0"/>
              <a:t>any) </a:t>
            </a:r>
            <a:r>
              <a:rPr spc="-10" dirty="0"/>
              <a:t>Methodology</a:t>
            </a:r>
          </a:p>
          <a:p>
            <a:pPr marL="12700" marR="1288415">
              <a:lnSpc>
                <a:spcPct val="125000"/>
              </a:lnSpc>
            </a:pPr>
            <a:r>
              <a:rPr dirty="0"/>
              <a:t>Results</a:t>
            </a:r>
            <a:r>
              <a:rPr spc="-80" dirty="0"/>
              <a:t> </a:t>
            </a:r>
            <a:r>
              <a:rPr dirty="0"/>
              <a:t>and</a:t>
            </a:r>
            <a:r>
              <a:rPr spc="-80" dirty="0"/>
              <a:t> </a:t>
            </a:r>
            <a:r>
              <a:rPr spc="-10" dirty="0"/>
              <a:t>Discussions </a:t>
            </a:r>
            <a:r>
              <a:rPr dirty="0"/>
              <a:t>Conclusions</a:t>
            </a:r>
            <a:r>
              <a:rPr spc="-114" dirty="0"/>
              <a:t> </a:t>
            </a:r>
            <a:r>
              <a:rPr dirty="0"/>
              <a:t>and</a:t>
            </a:r>
            <a:r>
              <a:rPr spc="-114" dirty="0"/>
              <a:t> </a:t>
            </a:r>
            <a:r>
              <a:rPr spc="-10" dirty="0"/>
              <a:t>Recommendations Acknowledgements</a:t>
            </a:r>
            <a:r>
              <a:rPr spc="-75" dirty="0"/>
              <a:t> </a:t>
            </a:r>
            <a:r>
              <a:rPr dirty="0"/>
              <a:t>(If</a:t>
            </a:r>
            <a:r>
              <a:rPr spc="-70" dirty="0"/>
              <a:t> </a:t>
            </a:r>
            <a:r>
              <a:rPr spc="-10" dirty="0"/>
              <a:t>any/Optional) References</a:t>
            </a:r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786130">
              <a:lnSpc>
                <a:spcPct val="100000"/>
              </a:lnSpc>
              <a:spcBef>
                <a:spcPts val="120"/>
              </a:spcBef>
            </a:pPr>
            <a:r>
              <a:rPr dirty="0"/>
              <a:t>SAMPLE</a:t>
            </a:r>
            <a:r>
              <a:rPr spc="-30" dirty="0"/>
              <a:t> </a:t>
            </a:r>
            <a:r>
              <a:rPr spc="-10" dirty="0"/>
              <a:t>OUTLINE</a:t>
            </a:r>
          </a:p>
        </p:txBody>
      </p:sp>
      <p:sp>
        <p:nvSpPr>
          <p:cNvPr id="15" name="object 15"/>
          <p:cNvSpPr/>
          <p:nvPr/>
        </p:nvSpPr>
        <p:spPr>
          <a:xfrm>
            <a:off x="0" y="9692528"/>
            <a:ext cx="18288000" cy="594995"/>
          </a:xfrm>
          <a:custGeom>
            <a:avLst/>
            <a:gdLst/>
            <a:ahLst/>
            <a:cxnLst/>
            <a:rect l="l" t="t" r="r" b="b"/>
            <a:pathLst>
              <a:path w="18288000" h="594995">
                <a:moveTo>
                  <a:pt x="18287425" y="0"/>
                </a:moveTo>
                <a:lnTo>
                  <a:pt x="18287425" y="594471"/>
                </a:lnTo>
                <a:lnTo>
                  <a:pt x="0" y="594471"/>
                </a:lnTo>
                <a:lnTo>
                  <a:pt x="0" y="0"/>
                </a:lnTo>
                <a:lnTo>
                  <a:pt x="18287425" y="0"/>
                </a:lnTo>
                <a:close/>
              </a:path>
            </a:pathLst>
          </a:custGeom>
          <a:solidFill>
            <a:srgbClr val="2632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0" dirty="0"/>
              <a:t>HUMANITY</a:t>
            </a:r>
            <a:r>
              <a:rPr spc="-185" dirty="0"/>
              <a:t> </a:t>
            </a:r>
            <a:r>
              <a:rPr spc="-215" dirty="0"/>
              <a:t>FIRST</a:t>
            </a:r>
            <a:r>
              <a:rPr spc="-185" dirty="0"/>
              <a:t> </a:t>
            </a:r>
            <a:r>
              <a:rPr spc="-10" dirty="0"/>
              <a:t>:</a:t>
            </a:r>
            <a:r>
              <a:rPr spc="-180" dirty="0"/>
              <a:t> </a:t>
            </a:r>
            <a:r>
              <a:rPr spc="-225" dirty="0"/>
              <a:t>STEERING</a:t>
            </a:r>
            <a:r>
              <a:rPr spc="-185" dirty="0"/>
              <a:t> </a:t>
            </a:r>
            <a:r>
              <a:rPr spc="-285" dirty="0"/>
              <a:t>INNOVATION</a:t>
            </a:r>
            <a:r>
              <a:rPr spc="-180" dirty="0"/>
              <a:t> </a:t>
            </a:r>
            <a:r>
              <a:rPr spc="-235" dirty="0"/>
              <a:t>FOR</a:t>
            </a:r>
            <a:r>
              <a:rPr spc="-185" dirty="0"/>
              <a:t> </a:t>
            </a:r>
            <a:r>
              <a:rPr spc="-180" dirty="0"/>
              <a:t>ETHICAL </a:t>
            </a:r>
            <a:r>
              <a:rPr spc="-145" dirty="0"/>
              <a:t>IMPACT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000" y="2846964"/>
            <a:ext cx="568261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dirty="0">
                <a:solidFill>
                  <a:srgbClr val="FAFAFB"/>
                </a:solidFill>
                <a:latin typeface="Arial MT"/>
                <a:cs typeface="Arial MT"/>
              </a:rPr>
              <a:t>Introduction</a:t>
            </a:r>
            <a:r>
              <a:rPr sz="3500" spc="-105" dirty="0">
                <a:solidFill>
                  <a:srgbClr val="FAFAF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FAFAFB"/>
                </a:solidFill>
                <a:latin typeface="Arial MT"/>
                <a:cs typeface="Arial MT"/>
              </a:rPr>
              <a:t>of</a:t>
            </a:r>
            <a:r>
              <a:rPr sz="3500" spc="-100" dirty="0">
                <a:solidFill>
                  <a:srgbClr val="FAFAF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FAFAFB"/>
                </a:solidFill>
                <a:latin typeface="Arial MT"/>
                <a:cs typeface="Arial MT"/>
              </a:rPr>
              <a:t>your</a:t>
            </a:r>
            <a:r>
              <a:rPr sz="3500" spc="-100" dirty="0">
                <a:solidFill>
                  <a:srgbClr val="FAFAFB"/>
                </a:solidFill>
                <a:latin typeface="Arial MT"/>
                <a:cs typeface="Arial MT"/>
              </a:rPr>
              <a:t> </a:t>
            </a:r>
            <a:r>
              <a:rPr sz="3500" spc="-10" dirty="0">
                <a:solidFill>
                  <a:srgbClr val="FAFAFB"/>
                </a:solidFill>
                <a:latin typeface="Arial MT"/>
                <a:cs typeface="Arial MT"/>
              </a:rPr>
              <a:t>research</a:t>
            </a:r>
            <a:endParaRPr sz="350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0" dirty="0"/>
              <a:t>INTRODUCTION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9683002"/>
            <a:ext cx="18288000" cy="604520"/>
          </a:xfrm>
          <a:custGeom>
            <a:avLst/>
            <a:gdLst/>
            <a:ahLst/>
            <a:cxnLst/>
            <a:rect l="l" t="t" r="r" b="b"/>
            <a:pathLst>
              <a:path w="18288000" h="604520">
                <a:moveTo>
                  <a:pt x="18287426" y="603997"/>
                </a:moveTo>
                <a:lnTo>
                  <a:pt x="0" y="603997"/>
                </a:lnTo>
                <a:lnTo>
                  <a:pt x="0" y="0"/>
                </a:lnTo>
                <a:lnTo>
                  <a:pt x="18287426" y="0"/>
                </a:lnTo>
                <a:lnTo>
                  <a:pt x="18287426" y="603997"/>
                </a:lnTo>
                <a:close/>
              </a:path>
            </a:pathLst>
          </a:custGeom>
          <a:solidFill>
            <a:srgbClr val="2632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0" dirty="0"/>
              <a:t>HUMANITY</a:t>
            </a:r>
            <a:r>
              <a:rPr spc="-185" dirty="0"/>
              <a:t> </a:t>
            </a:r>
            <a:r>
              <a:rPr spc="-215" dirty="0"/>
              <a:t>FIRST</a:t>
            </a:r>
            <a:r>
              <a:rPr spc="-185" dirty="0"/>
              <a:t> </a:t>
            </a:r>
            <a:r>
              <a:rPr spc="-10" dirty="0"/>
              <a:t>:</a:t>
            </a:r>
            <a:r>
              <a:rPr spc="-180" dirty="0"/>
              <a:t> </a:t>
            </a:r>
            <a:r>
              <a:rPr spc="-225" dirty="0"/>
              <a:t>STEERING</a:t>
            </a:r>
            <a:r>
              <a:rPr spc="-185" dirty="0"/>
              <a:t> </a:t>
            </a:r>
            <a:r>
              <a:rPr spc="-285" dirty="0"/>
              <a:t>INNOVATION</a:t>
            </a:r>
            <a:r>
              <a:rPr spc="-180" dirty="0"/>
              <a:t> </a:t>
            </a:r>
            <a:r>
              <a:rPr spc="-235" dirty="0"/>
              <a:t>FOR</a:t>
            </a:r>
            <a:r>
              <a:rPr spc="-185" dirty="0"/>
              <a:t> </a:t>
            </a:r>
            <a:r>
              <a:rPr spc="-180" dirty="0"/>
              <a:t>ETHICAL </a:t>
            </a:r>
            <a:r>
              <a:rPr spc="-145" dirty="0"/>
              <a:t>IMPACT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000" y="2846964"/>
            <a:ext cx="664527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dirty="0">
                <a:solidFill>
                  <a:srgbClr val="FAFAFB"/>
                </a:solidFill>
                <a:latin typeface="Arial MT"/>
                <a:cs typeface="Arial MT"/>
              </a:rPr>
              <a:t>Literature</a:t>
            </a:r>
            <a:r>
              <a:rPr sz="3500" spc="-85" dirty="0">
                <a:solidFill>
                  <a:srgbClr val="FAFAF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FAFAFB"/>
                </a:solidFill>
                <a:latin typeface="Arial MT"/>
                <a:cs typeface="Arial MT"/>
              </a:rPr>
              <a:t>review</a:t>
            </a:r>
            <a:r>
              <a:rPr sz="3500" spc="-85" dirty="0">
                <a:solidFill>
                  <a:srgbClr val="FAFAF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FAFAFB"/>
                </a:solidFill>
                <a:latin typeface="Arial MT"/>
                <a:cs typeface="Arial MT"/>
              </a:rPr>
              <a:t>of</a:t>
            </a:r>
            <a:r>
              <a:rPr sz="3500" spc="-85" dirty="0">
                <a:solidFill>
                  <a:srgbClr val="FAFAF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FAFAFB"/>
                </a:solidFill>
                <a:latin typeface="Arial MT"/>
                <a:cs typeface="Arial MT"/>
              </a:rPr>
              <a:t>your</a:t>
            </a:r>
            <a:r>
              <a:rPr sz="3500" spc="-80" dirty="0">
                <a:solidFill>
                  <a:srgbClr val="FAFAFB"/>
                </a:solidFill>
                <a:latin typeface="Arial MT"/>
                <a:cs typeface="Arial MT"/>
              </a:rPr>
              <a:t> </a:t>
            </a:r>
            <a:r>
              <a:rPr sz="3500" spc="-10" dirty="0">
                <a:solidFill>
                  <a:srgbClr val="FAFAFB"/>
                </a:solidFill>
                <a:latin typeface="Arial MT"/>
                <a:cs typeface="Arial MT"/>
              </a:rPr>
              <a:t>research</a:t>
            </a:r>
            <a:endParaRPr sz="350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LITERATURE</a:t>
            </a:r>
            <a:r>
              <a:rPr spc="-40" dirty="0"/>
              <a:t> </a:t>
            </a:r>
            <a:r>
              <a:rPr spc="-10" dirty="0"/>
              <a:t>REVIEW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9683002"/>
            <a:ext cx="18288000" cy="604520"/>
          </a:xfrm>
          <a:custGeom>
            <a:avLst/>
            <a:gdLst/>
            <a:ahLst/>
            <a:cxnLst/>
            <a:rect l="l" t="t" r="r" b="b"/>
            <a:pathLst>
              <a:path w="18288000" h="604520">
                <a:moveTo>
                  <a:pt x="18287426" y="603997"/>
                </a:moveTo>
                <a:lnTo>
                  <a:pt x="0" y="603997"/>
                </a:lnTo>
                <a:lnTo>
                  <a:pt x="0" y="0"/>
                </a:lnTo>
                <a:lnTo>
                  <a:pt x="18287426" y="0"/>
                </a:lnTo>
                <a:lnTo>
                  <a:pt x="18287426" y="603997"/>
                </a:lnTo>
                <a:close/>
              </a:path>
            </a:pathLst>
          </a:custGeom>
          <a:solidFill>
            <a:srgbClr val="2632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0" dirty="0"/>
              <a:t>HUMANITY</a:t>
            </a:r>
            <a:r>
              <a:rPr spc="-185" dirty="0"/>
              <a:t> </a:t>
            </a:r>
            <a:r>
              <a:rPr spc="-215" dirty="0"/>
              <a:t>FIRST</a:t>
            </a:r>
            <a:r>
              <a:rPr spc="-185" dirty="0"/>
              <a:t> </a:t>
            </a:r>
            <a:r>
              <a:rPr spc="-10" dirty="0"/>
              <a:t>:</a:t>
            </a:r>
            <a:r>
              <a:rPr spc="-180" dirty="0"/>
              <a:t> </a:t>
            </a:r>
            <a:r>
              <a:rPr spc="-225" dirty="0"/>
              <a:t>STEERING</a:t>
            </a:r>
            <a:r>
              <a:rPr spc="-185" dirty="0"/>
              <a:t> </a:t>
            </a:r>
            <a:r>
              <a:rPr spc="-285" dirty="0"/>
              <a:t>INNOVATION</a:t>
            </a:r>
            <a:r>
              <a:rPr spc="-180" dirty="0"/>
              <a:t> </a:t>
            </a:r>
            <a:r>
              <a:rPr spc="-235" dirty="0"/>
              <a:t>FOR</a:t>
            </a:r>
            <a:r>
              <a:rPr spc="-185" dirty="0"/>
              <a:t> </a:t>
            </a:r>
            <a:r>
              <a:rPr spc="-180" dirty="0"/>
              <a:t>ETHICAL </a:t>
            </a:r>
            <a:r>
              <a:rPr spc="-145" dirty="0"/>
              <a:t>IMPACT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9683115"/>
          </a:xfrm>
          <a:custGeom>
            <a:avLst/>
            <a:gdLst/>
            <a:ahLst/>
            <a:cxnLst/>
            <a:rect l="l" t="t" r="r" b="b"/>
            <a:pathLst>
              <a:path w="18288000" h="9683115">
                <a:moveTo>
                  <a:pt x="0" y="9683003"/>
                </a:moveTo>
                <a:lnTo>
                  <a:pt x="18288001" y="9683003"/>
                </a:lnTo>
                <a:lnTo>
                  <a:pt x="18288001" y="0"/>
                </a:lnTo>
                <a:lnTo>
                  <a:pt x="0" y="0"/>
                </a:lnTo>
                <a:lnTo>
                  <a:pt x="0" y="9683003"/>
                </a:lnTo>
                <a:close/>
              </a:path>
            </a:pathLst>
          </a:custGeom>
          <a:solidFill>
            <a:srgbClr val="00000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842264"/>
            <a:ext cx="3228974" cy="11525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16000" y="2046788"/>
            <a:ext cx="2619375" cy="202565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381635" indent="-372745">
              <a:lnSpc>
                <a:spcPct val="100000"/>
              </a:lnSpc>
              <a:spcBef>
                <a:spcPts val="1150"/>
              </a:spcBef>
              <a:buClr>
                <a:srgbClr val="FAFAFB"/>
              </a:buClr>
              <a:buSzPct val="97142"/>
              <a:buFont typeface="Arial MT"/>
              <a:buAutoNum type="arabicPeriod"/>
              <a:tabLst>
                <a:tab pos="381635" algn="l"/>
              </a:tabLst>
            </a:pPr>
            <a:r>
              <a:rPr sz="3500" dirty="0">
                <a:solidFill>
                  <a:srgbClr val="FAFAFB"/>
                </a:solidFill>
                <a:latin typeface="Arial MT"/>
                <a:cs typeface="Arial MT"/>
              </a:rPr>
              <a:t>Objective</a:t>
            </a:r>
            <a:r>
              <a:rPr sz="3500" spc="-145" dirty="0">
                <a:solidFill>
                  <a:srgbClr val="FAFAFB"/>
                </a:solidFill>
                <a:latin typeface="Arial MT"/>
                <a:cs typeface="Arial MT"/>
              </a:rPr>
              <a:t> </a:t>
            </a:r>
            <a:r>
              <a:rPr sz="3500" spc="-50" dirty="0">
                <a:solidFill>
                  <a:srgbClr val="FAFAFB"/>
                </a:solidFill>
                <a:latin typeface="Arial MT"/>
                <a:cs typeface="Arial MT"/>
              </a:rPr>
              <a:t>1</a:t>
            </a:r>
            <a:endParaRPr sz="3500">
              <a:latin typeface="Arial MT"/>
              <a:cs typeface="Arial MT"/>
            </a:endParaRPr>
          </a:p>
          <a:p>
            <a:pPr marL="381635" indent="-372745">
              <a:lnSpc>
                <a:spcPct val="100000"/>
              </a:lnSpc>
              <a:spcBef>
                <a:spcPts val="1050"/>
              </a:spcBef>
              <a:buSzPct val="97142"/>
              <a:buAutoNum type="arabicPeriod"/>
              <a:tabLst>
                <a:tab pos="381635" algn="l"/>
              </a:tabLst>
            </a:pPr>
            <a:r>
              <a:rPr sz="3500" dirty="0">
                <a:solidFill>
                  <a:srgbClr val="FAFAFB"/>
                </a:solidFill>
                <a:latin typeface="Arial MT"/>
                <a:cs typeface="Arial MT"/>
              </a:rPr>
              <a:t>Objective</a:t>
            </a:r>
            <a:r>
              <a:rPr sz="3500" spc="-145" dirty="0">
                <a:solidFill>
                  <a:srgbClr val="FAFAFB"/>
                </a:solidFill>
                <a:latin typeface="Arial MT"/>
                <a:cs typeface="Arial MT"/>
              </a:rPr>
              <a:t> </a:t>
            </a:r>
            <a:r>
              <a:rPr sz="3500" spc="-50" dirty="0">
                <a:solidFill>
                  <a:srgbClr val="FAFAFB"/>
                </a:solidFill>
                <a:latin typeface="Arial MT"/>
                <a:cs typeface="Arial MT"/>
              </a:rPr>
              <a:t>2</a:t>
            </a:r>
            <a:endParaRPr sz="3500">
              <a:latin typeface="Arial MT"/>
              <a:cs typeface="Arial MT"/>
            </a:endParaRPr>
          </a:p>
          <a:p>
            <a:pPr marL="381635" indent="-372745">
              <a:lnSpc>
                <a:spcPct val="100000"/>
              </a:lnSpc>
              <a:spcBef>
                <a:spcPts val="1050"/>
              </a:spcBef>
              <a:buSzPct val="97142"/>
              <a:buAutoNum type="arabicPeriod"/>
              <a:tabLst>
                <a:tab pos="381635" algn="l"/>
              </a:tabLst>
            </a:pPr>
            <a:r>
              <a:rPr sz="3500" dirty="0">
                <a:solidFill>
                  <a:srgbClr val="FAFAFB"/>
                </a:solidFill>
                <a:latin typeface="Arial MT"/>
                <a:cs typeface="Arial MT"/>
              </a:rPr>
              <a:t>Objective</a:t>
            </a:r>
            <a:r>
              <a:rPr sz="3500" spc="-145" dirty="0">
                <a:solidFill>
                  <a:srgbClr val="FAFAFB"/>
                </a:solidFill>
                <a:latin typeface="Arial MT"/>
                <a:cs typeface="Arial MT"/>
              </a:rPr>
              <a:t> </a:t>
            </a:r>
            <a:r>
              <a:rPr sz="3500" spc="-50" dirty="0">
                <a:solidFill>
                  <a:srgbClr val="FAFAFB"/>
                </a:solidFill>
                <a:latin typeface="Arial MT"/>
                <a:cs typeface="Arial MT"/>
              </a:rPr>
              <a:t>3</a:t>
            </a:r>
            <a:endParaRPr sz="3500">
              <a:latin typeface="Arial MT"/>
              <a:cs typeface="Arial MT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RESEARCH</a:t>
            </a:r>
            <a:r>
              <a:rPr spc="-40" dirty="0"/>
              <a:t> </a:t>
            </a:r>
            <a:r>
              <a:rPr spc="-10" dirty="0"/>
              <a:t>OBJECTIVES</a:t>
            </a:r>
          </a:p>
        </p:txBody>
      </p:sp>
      <p:sp>
        <p:nvSpPr>
          <p:cNvPr id="6" name="object 6"/>
          <p:cNvSpPr/>
          <p:nvPr/>
        </p:nvSpPr>
        <p:spPr>
          <a:xfrm>
            <a:off x="0" y="9683002"/>
            <a:ext cx="18288000" cy="604520"/>
          </a:xfrm>
          <a:custGeom>
            <a:avLst/>
            <a:gdLst/>
            <a:ahLst/>
            <a:cxnLst/>
            <a:rect l="l" t="t" r="r" b="b"/>
            <a:pathLst>
              <a:path w="18288000" h="604520">
                <a:moveTo>
                  <a:pt x="18287426" y="603997"/>
                </a:moveTo>
                <a:lnTo>
                  <a:pt x="0" y="603997"/>
                </a:lnTo>
                <a:lnTo>
                  <a:pt x="0" y="0"/>
                </a:lnTo>
                <a:lnTo>
                  <a:pt x="18287426" y="0"/>
                </a:lnTo>
                <a:lnTo>
                  <a:pt x="18287426" y="603997"/>
                </a:lnTo>
                <a:close/>
              </a:path>
            </a:pathLst>
          </a:custGeom>
          <a:solidFill>
            <a:srgbClr val="2632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0" dirty="0"/>
              <a:t>HUMANITY</a:t>
            </a:r>
            <a:r>
              <a:rPr spc="-185" dirty="0"/>
              <a:t> </a:t>
            </a:r>
            <a:r>
              <a:rPr spc="-215" dirty="0"/>
              <a:t>FIRST</a:t>
            </a:r>
            <a:r>
              <a:rPr spc="-185" dirty="0"/>
              <a:t> </a:t>
            </a:r>
            <a:r>
              <a:rPr spc="-10" dirty="0"/>
              <a:t>:</a:t>
            </a:r>
            <a:r>
              <a:rPr spc="-180" dirty="0"/>
              <a:t> </a:t>
            </a:r>
            <a:r>
              <a:rPr spc="-225" dirty="0"/>
              <a:t>STEERING</a:t>
            </a:r>
            <a:r>
              <a:rPr spc="-185" dirty="0"/>
              <a:t> </a:t>
            </a:r>
            <a:r>
              <a:rPr spc="-285" dirty="0"/>
              <a:t>INNOVATION</a:t>
            </a:r>
            <a:r>
              <a:rPr spc="-180" dirty="0"/>
              <a:t> </a:t>
            </a:r>
            <a:r>
              <a:rPr spc="-235" dirty="0"/>
              <a:t>FOR</a:t>
            </a:r>
            <a:r>
              <a:rPr spc="-185" dirty="0"/>
              <a:t> </a:t>
            </a:r>
            <a:r>
              <a:rPr spc="-180" dirty="0"/>
              <a:t>ETHICAL </a:t>
            </a:r>
            <a:r>
              <a:rPr spc="-145" dirty="0"/>
              <a:t>IMPACT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000" y="2772339"/>
            <a:ext cx="222377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-10" dirty="0">
                <a:solidFill>
                  <a:srgbClr val="FAFAFB"/>
                </a:solidFill>
                <a:latin typeface="Arial MT"/>
                <a:cs typeface="Arial MT"/>
              </a:rPr>
              <a:t>Hypothesis</a:t>
            </a:r>
            <a:endParaRPr sz="350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12700" marR="5080">
              <a:lnSpc>
                <a:spcPts val="6409"/>
              </a:lnSpc>
              <a:spcBef>
                <a:spcPts val="1345"/>
              </a:spcBef>
            </a:pPr>
            <a:r>
              <a:rPr dirty="0"/>
              <a:t>CONCEPTUAL</a:t>
            </a:r>
            <a:r>
              <a:rPr spc="-40" dirty="0"/>
              <a:t> </a:t>
            </a:r>
            <a:r>
              <a:rPr spc="-10" dirty="0"/>
              <a:t>FRAMEWORK/ HYPOTHESIS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9683002"/>
            <a:ext cx="18288000" cy="604520"/>
          </a:xfrm>
          <a:custGeom>
            <a:avLst/>
            <a:gdLst/>
            <a:ahLst/>
            <a:cxnLst/>
            <a:rect l="l" t="t" r="r" b="b"/>
            <a:pathLst>
              <a:path w="18288000" h="604520">
                <a:moveTo>
                  <a:pt x="18287426" y="603997"/>
                </a:moveTo>
                <a:lnTo>
                  <a:pt x="0" y="603997"/>
                </a:lnTo>
                <a:lnTo>
                  <a:pt x="0" y="0"/>
                </a:lnTo>
                <a:lnTo>
                  <a:pt x="18287426" y="0"/>
                </a:lnTo>
                <a:lnTo>
                  <a:pt x="18287426" y="603997"/>
                </a:lnTo>
                <a:close/>
              </a:path>
            </a:pathLst>
          </a:custGeom>
          <a:solidFill>
            <a:srgbClr val="2632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0" dirty="0"/>
              <a:t>HUMANITY</a:t>
            </a:r>
            <a:r>
              <a:rPr spc="-185" dirty="0"/>
              <a:t> </a:t>
            </a:r>
            <a:r>
              <a:rPr spc="-215" dirty="0"/>
              <a:t>FIRST</a:t>
            </a:r>
            <a:r>
              <a:rPr spc="-185" dirty="0"/>
              <a:t> </a:t>
            </a:r>
            <a:r>
              <a:rPr spc="-10" dirty="0"/>
              <a:t>:</a:t>
            </a:r>
            <a:r>
              <a:rPr spc="-180" dirty="0"/>
              <a:t> </a:t>
            </a:r>
            <a:r>
              <a:rPr spc="-225" dirty="0"/>
              <a:t>STEERING</a:t>
            </a:r>
            <a:r>
              <a:rPr spc="-185" dirty="0"/>
              <a:t> </a:t>
            </a:r>
            <a:r>
              <a:rPr spc="-285" dirty="0"/>
              <a:t>INNOVATION</a:t>
            </a:r>
            <a:r>
              <a:rPr spc="-180" dirty="0"/>
              <a:t> </a:t>
            </a:r>
            <a:r>
              <a:rPr spc="-235" dirty="0"/>
              <a:t>FOR</a:t>
            </a:r>
            <a:r>
              <a:rPr spc="-185" dirty="0"/>
              <a:t> </a:t>
            </a:r>
            <a:r>
              <a:rPr spc="-180" dirty="0"/>
              <a:t>ETHICAL </a:t>
            </a:r>
            <a:r>
              <a:rPr spc="-145" dirty="0"/>
              <a:t>IMPACT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000" y="2772339"/>
            <a:ext cx="257048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-10" dirty="0">
                <a:solidFill>
                  <a:srgbClr val="FAFAFB"/>
                </a:solidFill>
                <a:latin typeface="Arial MT"/>
                <a:cs typeface="Arial MT"/>
              </a:rPr>
              <a:t>Methodology</a:t>
            </a:r>
            <a:endParaRPr sz="350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0" dirty="0"/>
              <a:t>METHODOLOGY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9683002"/>
            <a:ext cx="18288000" cy="604520"/>
          </a:xfrm>
          <a:custGeom>
            <a:avLst/>
            <a:gdLst/>
            <a:ahLst/>
            <a:cxnLst/>
            <a:rect l="l" t="t" r="r" b="b"/>
            <a:pathLst>
              <a:path w="18288000" h="604520">
                <a:moveTo>
                  <a:pt x="18287426" y="603997"/>
                </a:moveTo>
                <a:lnTo>
                  <a:pt x="0" y="603997"/>
                </a:lnTo>
                <a:lnTo>
                  <a:pt x="0" y="0"/>
                </a:lnTo>
                <a:lnTo>
                  <a:pt x="18287426" y="0"/>
                </a:lnTo>
                <a:lnTo>
                  <a:pt x="18287426" y="603997"/>
                </a:lnTo>
                <a:close/>
              </a:path>
            </a:pathLst>
          </a:custGeom>
          <a:solidFill>
            <a:srgbClr val="2632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0" dirty="0"/>
              <a:t>HUMANITY</a:t>
            </a:r>
            <a:r>
              <a:rPr spc="-185" dirty="0"/>
              <a:t> </a:t>
            </a:r>
            <a:r>
              <a:rPr spc="-215" dirty="0"/>
              <a:t>FIRST</a:t>
            </a:r>
            <a:r>
              <a:rPr spc="-185" dirty="0"/>
              <a:t> </a:t>
            </a:r>
            <a:r>
              <a:rPr spc="-10" dirty="0"/>
              <a:t>:</a:t>
            </a:r>
            <a:r>
              <a:rPr spc="-180" dirty="0"/>
              <a:t> </a:t>
            </a:r>
            <a:r>
              <a:rPr spc="-225" dirty="0"/>
              <a:t>STEERING</a:t>
            </a:r>
            <a:r>
              <a:rPr spc="-185" dirty="0"/>
              <a:t> </a:t>
            </a:r>
            <a:r>
              <a:rPr spc="-285" dirty="0"/>
              <a:t>INNOVATION</a:t>
            </a:r>
            <a:r>
              <a:rPr spc="-180" dirty="0"/>
              <a:t> </a:t>
            </a:r>
            <a:r>
              <a:rPr spc="-235" dirty="0"/>
              <a:t>FOR</a:t>
            </a:r>
            <a:r>
              <a:rPr spc="-185" dirty="0"/>
              <a:t> </a:t>
            </a:r>
            <a:r>
              <a:rPr spc="-180" dirty="0"/>
              <a:t>ETHICAL </a:t>
            </a:r>
            <a:r>
              <a:rPr spc="-145" dirty="0"/>
              <a:t>IMPACT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000" y="2772339"/>
            <a:ext cx="333502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dirty="0">
                <a:solidFill>
                  <a:srgbClr val="FAFAFB"/>
                </a:solidFill>
                <a:latin typeface="Arial MT"/>
                <a:cs typeface="Arial MT"/>
              </a:rPr>
              <a:t>Important</a:t>
            </a:r>
            <a:r>
              <a:rPr sz="3500" spc="-155" dirty="0">
                <a:solidFill>
                  <a:srgbClr val="FAFAFB"/>
                </a:solidFill>
                <a:latin typeface="Arial MT"/>
                <a:cs typeface="Arial MT"/>
              </a:rPr>
              <a:t> </a:t>
            </a:r>
            <a:r>
              <a:rPr sz="3500" spc="-10" dirty="0">
                <a:solidFill>
                  <a:srgbClr val="FAFAFB"/>
                </a:solidFill>
                <a:latin typeface="Arial MT"/>
                <a:cs typeface="Arial MT"/>
              </a:rPr>
              <a:t>results</a:t>
            </a:r>
            <a:endParaRPr sz="350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/>
          <p:nvPr/>
        </p:nvSpPr>
        <p:spPr>
          <a:xfrm>
            <a:off x="4508184" y="959621"/>
            <a:ext cx="11580495" cy="9969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350" b="1" dirty="0">
                <a:solidFill>
                  <a:srgbClr val="A0C8FF"/>
                </a:solidFill>
                <a:latin typeface="Arial"/>
                <a:cs typeface="Arial"/>
              </a:rPr>
              <a:t>RESULTS</a:t>
            </a:r>
            <a:r>
              <a:rPr sz="6350" b="1" spc="-15" dirty="0">
                <a:solidFill>
                  <a:srgbClr val="A0C8FF"/>
                </a:solidFill>
                <a:latin typeface="Arial"/>
                <a:cs typeface="Arial"/>
              </a:rPr>
              <a:t> </a:t>
            </a:r>
            <a:r>
              <a:rPr sz="6350" b="1" dirty="0">
                <a:solidFill>
                  <a:srgbClr val="A0C8FF"/>
                </a:solidFill>
                <a:latin typeface="Arial"/>
                <a:cs typeface="Arial"/>
              </a:rPr>
              <a:t>AND</a:t>
            </a:r>
            <a:r>
              <a:rPr sz="6350" b="1" spc="-15" dirty="0">
                <a:solidFill>
                  <a:srgbClr val="A0C8FF"/>
                </a:solidFill>
                <a:latin typeface="Arial"/>
                <a:cs typeface="Arial"/>
              </a:rPr>
              <a:t> </a:t>
            </a:r>
            <a:r>
              <a:rPr sz="6350" b="1" spc="-10" dirty="0">
                <a:solidFill>
                  <a:srgbClr val="A0C8FF"/>
                </a:solidFill>
                <a:latin typeface="Arial"/>
                <a:cs typeface="Arial"/>
              </a:rPr>
              <a:t>DISCUSSIONS</a:t>
            </a:r>
            <a:endParaRPr sz="63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9683002"/>
            <a:ext cx="18288000" cy="604520"/>
          </a:xfrm>
          <a:custGeom>
            <a:avLst/>
            <a:gdLst/>
            <a:ahLst/>
            <a:cxnLst/>
            <a:rect l="l" t="t" r="r" b="b"/>
            <a:pathLst>
              <a:path w="18288000" h="604520">
                <a:moveTo>
                  <a:pt x="18287426" y="603997"/>
                </a:moveTo>
                <a:lnTo>
                  <a:pt x="0" y="603997"/>
                </a:lnTo>
                <a:lnTo>
                  <a:pt x="0" y="0"/>
                </a:lnTo>
                <a:lnTo>
                  <a:pt x="18287426" y="0"/>
                </a:lnTo>
                <a:lnTo>
                  <a:pt x="18287426" y="603997"/>
                </a:lnTo>
                <a:close/>
              </a:path>
            </a:pathLst>
          </a:custGeom>
          <a:solidFill>
            <a:srgbClr val="2632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0" dirty="0"/>
              <a:t>HUMANITY</a:t>
            </a:r>
            <a:r>
              <a:rPr spc="-185" dirty="0"/>
              <a:t> </a:t>
            </a:r>
            <a:r>
              <a:rPr spc="-215" dirty="0"/>
              <a:t>FIRST</a:t>
            </a:r>
            <a:r>
              <a:rPr spc="-185" dirty="0"/>
              <a:t> </a:t>
            </a:r>
            <a:r>
              <a:rPr spc="-10" dirty="0"/>
              <a:t>:</a:t>
            </a:r>
            <a:r>
              <a:rPr spc="-180" dirty="0"/>
              <a:t> </a:t>
            </a:r>
            <a:r>
              <a:rPr spc="-225" dirty="0"/>
              <a:t>STEERING</a:t>
            </a:r>
            <a:r>
              <a:rPr spc="-185" dirty="0"/>
              <a:t> </a:t>
            </a:r>
            <a:r>
              <a:rPr spc="-285" dirty="0"/>
              <a:t>INNOVATION</a:t>
            </a:r>
            <a:r>
              <a:rPr spc="-180" dirty="0"/>
              <a:t> </a:t>
            </a:r>
            <a:r>
              <a:rPr spc="-235" dirty="0"/>
              <a:t>FOR</a:t>
            </a:r>
            <a:r>
              <a:rPr spc="-185" dirty="0"/>
              <a:t> </a:t>
            </a:r>
            <a:r>
              <a:rPr spc="-180" dirty="0"/>
              <a:t>ETHICAL </a:t>
            </a:r>
            <a:r>
              <a:rPr spc="-145" dirty="0"/>
              <a:t>IMPACT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799" y="3699196"/>
            <a:ext cx="133350" cy="1333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799" y="4365946"/>
            <a:ext cx="133350" cy="1333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71600" y="3308658"/>
            <a:ext cx="7065645" cy="1358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3500" dirty="0">
                <a:solidFill>
                  <a:srgbClr val="FAFAFB"/>
                </a:solidFill>
                <a:latin typeface="Arial MT"/>
                <a:cs typeface="Arial MT"/>
              </a:rPr>
              <a:t>Conclusions</a:t>
            </a:r>
            <a:r>
              <a:rPr sz="3500" spc="-85" dirty="0">
                <a:solidFill>
                  <a:srgbClr val="FAFAF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FAFAFB"/>
                </a:solidFill>
                <a:latin typeface="Arial MT"/>
                <a:cs typeface="Arial MT"/>
              </a:rPr>
              <a:t>of</a:t>
            </a:r>
            <a:r>
              <a:rPr sz="3500" spc="-85" dirty="0">
                <a:solidFill>
                  <a:srgbClr val="FAFAF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FAFAFB"/>
                </a:solidFill>
                <a:latin typeface="Arial MT"/>
                <a:cs typeface="Arial MT"/>
              </a:rPr>
              <a:t>your</a:t>
            </a:r>
            <a:r>
              <a:rPr sz="3500" spc="-85" dirty="0">
                <a:solidFill>
                  <a:srgbClr val="FAFAFB"/>
                </a:solidFill>
                <a:latin typeface="Arial MT"/>
                <a:cs typeface="Arial MT"/>
              </a:rPr>
              <a:t> </a:t>
            </a:r>
            <a:r>
              <a:rPr sz="3500" spc="-10" dirty="0">
                <a:solidFill>
                  <a:srgbClr val="FAFAFB"/>
                </a:solidFill>
                <a:latin typeface="Arial MT"/>
                <a:cs typeface="Arial MT"/>
              </a:rPr>
              <a:t>research </a:t>
            </a:r>
            <a:r>
              <a:rPr sz="3500" dirty="0">
                <a:solidFill>
                  <a:srgbClr val="FAFAFB"/>
                </a:solidFill>
                <a:latin typeface="Arial MT"/>
                <a:cs typeface="Arial MT"/>
              </a:rPr>
              <a:t>Recommendations</a:t>
            </a:r>
            <a:r>
              <a:rPr sz="3500" spc="-114" dirty="0">
                <a:solidFill>
                  <a:srgbClr val="FAFAF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FAFAFB"/>
                </a:solidFill>
                <a:latin typeface="Arial MT"/>
                <a:cs typeface="Arial MT"/>
              </a:rPr>
              <a:t>of</a:t>
            </a:r>
            <a:r>
              <a:rPr sz="3500" spc="-114" dirty="0">
                <a:solidFill>
                  <a:srgbClr val="FAFAF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FAFAFB"/>
                </a:solidFill>
                <a:latin typeface="Arial MT"/>
                <a:cs typeface="Arial MT"/>
              </a:rPr>
              <a:t>your</a:t>
            </a:r>
            <a:r>
              <a:rPr sz="3500" spc="-110" dirty="0">
                <a:solidFill>
                  <a:srgbClr val="FAFAFB"/>
                </a:solidFill>
                <a:latin typeface="Arial MT"/>
                <a:cs typeface="Arial MT"/>
              </a:rPr>
              <a:t> </a:t>
            </a:r>
            <a:r>
              <a:rPr sz="3500" spc="-10" dirty="0">
                <a:solidFill>
                  <a:srgbClr val="FAFAFB"/>
                </a:solidFill>
                <a:latin typeface="Arial MT"/>
                <a:cs typeface="Arial MT"/>
              </a:rPr>
              <a:t>research</a:t>
            </a:r>
            <a:endParaRPr sz="3500">
              <a:latin typeface="Arial MT"/>
              <a:cs typeface="Arial MT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12700" marR="5080">
              <a:lnSpc>
                <a:spcPts val="6409"/>
              </a:lnSpc>
              <a:spcBef>
                <a:spcPts val="1345"/>
              </a:spcBef>
            </a:pPr>
            <a:r>
              <a:rPr dirty="0"/>
              <a:t>CONCLUSIONS</a:t>
            </a:r>
            <a:r>
              <a:rPr spc="-45" dirty="0"/>
              <a:t> </a:t>
            </a:r>
            <a:r>
              <a:rPr spc="-25" dirty="0"/>
              <a:t>AND </a:t>
            </a:r>
            <a:r>
              <a:rPr spc="-10" dirty="0"/>
              <a:t>RECOMMENDATIONS</a:t>
            </a:r>
          </a:p>
        </p:txBody>
      </p:sp>
      <p:sp>
        <p:nvSpPr>
          <p:cNvPr id="6" name="object 6"/>
          <p:cNvSpPr/>
          <p:nvPr/>
        </p:nvSpPr>
        <p:spPr>
          <a:xfrm>
            <a:off x="0" y="9683002"/>
            <a:ext cx="18288000" cy="604520"/>
          </a:xfrm>
          <a:custGeom>
            <a:avLst/>
            <a:gdLst/>
            <a:ahLst/>
            <a:cxnLst/>
            <a:rect l="l" t="t" r="r" b="b"/>
            <a:pathLst>
              <a:path w="18288000" h="604520">
                <a:moveTo>
                  <a:pt x="18287426" y="603997"/>
                </a:moveTo>
                <a:lnTo>
                  <a:pt x="0" y="603997"/>
                </a:lnTo>
                <a:lnTo>
                  <a:pt x="0" y="0"/>
                </a:lnTo>
                <a:lnTo>
                  <a:pt x="18287426" y="0"/>
                </a:lnTo>
                <a:lnTo>
                  <a:pt x="18287426" y="603997"/>
                </a:lnTo>
                <a:close/>
              </a:path>
            </a:pathLst>
          </a:custGeom>
          <a:solidFill>
            <a:srgbClr val="2632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0" dirty="0"/>
              <a:t>HUMANITY</a:t>
            </a:r>
            <a:r>
              <a:rPr spc="-185" dirty="0"/>
              <a:t> </a:t>
            </a:r>
            <a:r>
              <a:rPr spc="-215" dirty="0"/>
              <a:t>FIRST</a:t>
            </a:r>
            <a:r>
              <a:rPr spc="-185" dirty="0"/>
              <a:t> </a:t>
            </a:r>
            <a:r>
              <a:rPr spc="-10" dirty="0"/>
              <a:t>:</a:t>
            </a:r>
            <a:r>
              <a:rPr spc="-180" dirty="0"/>
              <a:t> </a:t>
            </a:r>
            <a:r>
              <a:rPr spc="-225" dirty="0"/>
              <a:t>STEERING</a:t>
            </a:r>
            <a:r>
              <a:rPr spc="-185" dirty="0"/>
              <a:t> </a:t>
            </a:r>
            <a:r>
              <a:rPr spc="-285" dirty="0"/>
              <a:t>INNOVATION</a:t>
            </a:r>
            <a:r>
              <a:rPr spc="-180" dirty="0"/>
              <a:t> </a:t>
            </a:r>
            <a:r>
              <a:rPr spc="-235" dirty="0"/>
              <a:t>FOR</a:t>
            </a:r>
            <a:r>
              <a:rPr spc="-185" dirty="0"/>
              <a:t> </a:t>
            </a:r>
            <a:r>
              <a:rPr spc="-180" dirty="0"/>
              <a:t>ETHICAL </a:t>
            </a:r>
            <a:r>
              <a:rPr spc="-145" dirty="0"/>
              <a:t>IMPACT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000" y="3775459"/>
            <a:ext cx="387921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-10" dirty="0">
                <a:solidFill>
                  <a:srgbClr val="FAFAFB"/>
                </a:solidFill>
                <a:latin typeface="Arial MT"/>
                <a:cs typeface="Arial MT"/>
              </a:rPr>
              <a:t>Acknowledgements</a:t>
            </a:r>
            <a:endParaRPr sz="350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0" dirty="0"/>
              <a:t>ACKNOWLEDGEMENTS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9683002"/>
            <a:ext cx="18288000" cy="604520"/>
          </a:xfrm>
          <a:custGeom>
            <a:avLst/>
            <a:gdLst/>
            <a:ahLst/>
            <a:cxnLst/>
            <a:rect l="l" t="t" r="r" b="b"/>
            <a:pathLst>
              <a:path w="18288000" h="604520">
                <a:moveTo>
                  <a:pt x="18287426" y="603997"/>
                </a:moveTo>
                <a:lnTo>
                  <a:pt x="0" y="603997"/>
                </a:lnTo>
                <a:lnTo>
                  <a:pt x="0" y="0"/>
                </a:lnTo>
                <a:lnTo>
                  <a:pt x="18287426" y="0"/>
                </a:lnTo>
                <a:lnTo>
                  <a:pt x="18287426" y="603997"/>
                </a:lnTo>
                <a:close/>
              </a:path>
            </a:pathLst>
          </a:custGeom>
          <a:solidFill>
            <a:srgbClr val="2632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0" dirty="0"/>
              <a:t>HUMANITY</a:t>
            </a:r>
            <a:r>
              <a:rPr spc="-185" dirty="0"/>
              <a:t> </a:t>
            </a:r>
            <a:r>
              <a:rPr spc="-215" dirty="0"/>
              <a:t>FIRST</a:t>
            </a:r>
            <a:r>
              <a:rPr spc="-185" dirty="0"/>
              <a:t> </a:t>
            </a:r>
            <a:r>
              <a:rPr spc="-10" dirty="0"/>
              <a:t>:</a:t>
            </a:r>
            <a:r>
              <a:rPr spc="-180" dirty="0"/>
              <a:t> </a:t>
            </a:r>
            <a:r>
              <a:rPr spc="-225" dirty="0"/>
              <a:t>STEERING</a:t>
            </a:r>
            <a:r>
              <a:rPr spc="-185" dirty="0"/>
              <a:t> </a:t>
            </a:r>
            <a:r>
              <a:rPr spc="-285" dirty="0"/>
              <a:t>INNOVATION</a:t>
            </a:r>
            <a:r>
              <a:rPr spc="-180" dirty="0"/>
              <a:t> </a:t>
            </a:r>
            <a:r>
              <a:rPr spc="-235" dirty="0"/>
              <a:t>FOR</a:t>
            </a:r>
            <a:r>
              <a:rPr spc="-185" dirty="0"/>
              <a:t> </a:t>
            </a:r>
            <a:r>
              <a:rPr spc="-180" dirty="0"/>
              <a:t>ETHICAL </a:t>
            </a:r>
            <a:r>
              <a:rPr spc="-145" dirty="0"/>
              <a:t>IMPACT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0" dirty="0"/>
              <a:t>REFERENCES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9683002"/>
            <a:ext cx="18288000" cy="604520"/>
          </a:xfrm>
          <a:custGeom>
            <a:avLst/>
            <a:gdLst/>
            <a:ahLst/>
            <a:cxnLst/>
            <a:rect l="l" t="t" r="r" b="b"/>
            <a:pathLst>
              <a:path w="18288000" h="604520">
                <a:moveTo>
                  <a:pt x="18287426" y="603997"/>
                </a:moveTo>
                <a:lnTo>
                  <a:pt x="0" y="603997"/>
                </a:lnTo>
                <a:lnTo>
                  <a:pt x="0" y="0"/>
                </a:lnTo>
                <a:lnTo>
                  <a:pt x="18287426" y="0"/>
                </a:lnTo>
                <a:lnTo>
                  <a:pt x="18287426" y="603997"/>
                </a:lnTo>
                <a:close/>
              </a:path>
            </a:pathLst>
          </a:custGeom>
          <a:solidFill>
            <a:srgbClr val="2632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0" dirty="0"/>
              <a:t>HUMANITY</a:t>
            </a:r>
            <a:r>
              <a:rPr spc="-185" dirty="0"/>
              <a:t> </a:t>
            </a:r>
            <a:r>
              <a:rPr spc="-215" dirty="0"/>
              <a:t>FIRST</a:t>
            </a:r>
            <a:r>
              <a:rPr spc="-185" dirty="0"/>
              <a:t> </a:t>
            </a:r>
            <a:r>
              <a:rPr spc="-10" dirty="0"/>
              <a:t>:</a:t>
            </a:r>
            <a:r>
              <a:rPr spc="-180" dirty="0"/>
              <a:t> </a:t>
            </a:r>
            <a:r>
              <a:rPr spc="-225" dirty="0"/>
              <a:t>STEERING</a:t>
            </a:r>
            <a:r>
              <a:rPr spc="-185" dirty="0"/>
              <a:t> </a:t>
            </a:r>
            <a:r>
              <a:rPr spc="-285" dirty="0"/>
              <a:t>INNOVATION</a:t>
            </a:r>
            <a:r>
              <a:rPr spc="-180" dirty="0"/>
              <a:t> </a:t>
            </a:r>
            <a:r>
              <a:rPr spc="-235" dirty="0"/>
              <a:t>FOR</a:t>
            </a:r>
            <a:r>
              <a:rPr spc="-185" dirty="0"/>
              <a:t> </a:t>
            </a:r>
            <a:r>
              <a:rPr spc="-180" dirty="0"/>
              <a:t>ETHICAL </a:t>
            </a:r>
            <a:r>
              <a:rPr spc="-145" dirty="0"/>
              <a:t>IMPACT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683002"/>
            <a:ext cx="18288000" cy="604520"/>
          </a:xfrm>
          <a:custGeom>
            <a:avLst/>
            <a:gdLst/>
            <a:ahLst/>
            <a:cxnLst/>
            <a:rect l="l" t="t" r="r" b="b"/>
            <a:pathLst>
              <a:path w="18288000" h="604520">
                <a:moveTo>
                  <a:pt x="18287426" y="603997"/>
                </a:moveTo>
                <a:lnTo>
                  <a:pt x="0" y="603997"/>
                </a:lnTo>
                <a:lnTo>
                  <a:pt x="0" y="0"/>
                </a:lnTo>
                <a:lnTo>
                  <a:pt x="18287426" y="0"/>
                </a:lnTo>
                <a:lnTo>
                  <a:pt x="18287426" y="603997"/>
                </a:lnTo>
                <a:close/>
              </a:path>
            </a:pathLst>
          </a:custGeom>
          <a:solidFill>
            <a:srgbClr val="2632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0" dirty="0"/>
              <a:t>HUMANITY</a:t>
            </a:r>
            <a:r>
              <a:rPr spc="-185" dirty="0"/>
              <a:t> </a:t>
            </a:r>
            <a:r>
              <a:rPr spc="-215" dirty="0"/>
              <a:t>FIRST</a:t>
            </a:r>
            <a:r>
              <a:rPr spc="-185" dirty="0"/>
              <a:t> </a:t>
            </a:r>
            <a:r>
              <a:rPr spc="-10" dirty="0"/>
              <a:t>:</a:t>
            </a:r>
            <a:r>
              <a:rPr spc="-180" dirty="0"/>
              <a:t> </a:t>
            </a:r>
            <a:r>
              <a:rPr spc="-225" dirty="0"/>
              <a:t>STEERING</a:t>
            </a:r>
            <a:r>
              <a:rPr spc="-185" dirty="0"/>
              <a:t> </a:t>
            </a:r>
            <a:r>
              <a:rPr spc="-285" dirty="0"/>
              <a:t>INNOVATION</a:t>
            </a:r>
            <a:r>
              <a:rPr spc="-180" dirty="0"/>
              <a:t> </a:t>
            </a:r>
            <a:r>
              <a:rPr spc="-235" dirty="0"/>
              <a:t>FOR</a:t>
            </a:r>
            <a:r>
              <a:rPr spc="-185" dirty="0"/>
              <a:t> </a:t>
            </a:r>
            <a:r>
              <a:rPr spc="-180" dirty="0"/>
              <a:t>ETHICAL </a:t>
            </a:r>
            <a:r>
              <a:rPr spc="-145" dirty="0"/>
              <a:t>IMPACT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191</Words>
  <Application>Microsoft Office PowerPoint</Application>
  <PresentationFormat>Custom</PresentationFormat>
  <Paragraphs>39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Arial MT</vt:lpstr>
      <vt:lpstr>Tahoma</vt:lpstr>
      <vt:lpstr>Office Theme</vt:lpstr>
      <vt:lpstr>PowerPoint Presentation</vt:lpstr>
      <vt:lpstr>SAMPLE OUTLINE</vt:lpstr>
      <vt:lpstr>INTRODUCTION</vt:lpstr>
      <vt:lpstr>LITERATURE REVIEW</vt:lpstr>
      <vt:lpstr>RESEARCH OBJECTIVES</vt:lpstr>
      <vt:lpstr>CONCEPTUAL FRAMEWORK/ HYPOTHESIS</vt:lpstr>
      <vt:lpstr>METHODOLOGY</vt:lpstr>
      <vt:lpstr>PowerPoint Presentation</vt:lpstr>
      <vt:lpstr>CONCLUSIONS AND RECOMMENDATIONS</vt:lpstr>
      <vt:lpstr>ACKNOWLEDGEMENTS</vt:lpstr>
      <vt:lpstr>REFERENCES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IMPETUS</dc:title>
  <dc:creator>Hansaka Hansaka</dc:creator>
  <cp:keywords>DAHKLZpjhe4,BAFzU8E5wd4,0</cp:keywords>
  <cp:lastModifiedBy>Microsoft account</cp:lastModifiedBy>
  <cp:revision>1</cp:revision>
  <dcterms:created xsi:type="dcterms:W3CDTF">2026-05-21T10:53:04Z</dcterms:created>
  <dcterms:modified xsi:type="dcterms:W3CDTF">2026-05-21T10:56:09Z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2026-05-21T00:00:00Z</vt:filetime>
  </property>
  <property fmtid="{D5CDD505-2E9C-101B-9397-08002B2CF9AE}" pid="4" name="Creator">
    <vt:lpwstr>Canva</vt:lpwstr>
  </property>
  <property fmtid="{D5CDD505-2E9C-101B-9397-08002B2CF9AE}" pid="5" name="LastSaved">
    <vt:filetime>2026-05-21T00:00:00Z</vt:filetime>
  </property>
  <property fmtid="{D5CDD505-2E9C-101B-9397-08002B2CF9AE}" pid="6" name="Producer">
    <vt:lpwstr>Canva</vt:lpwstr>
  </property>
</Properties>
</file>